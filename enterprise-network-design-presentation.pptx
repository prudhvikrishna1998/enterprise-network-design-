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4660"/>
  </p:normalViewPr>
  <p:slideViewPr>
    <p:cSldViewPr snapToGrid="0">
      <p:cViewPr varScale="1">
        <p:scale>
          <a:sx n="83" d="100"/>
          <a:sy n="83" d="100"/>
        </p:scale>
        <p:origin x="46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8/11/2022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8/11/2022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8/11/2022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8/11/2022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8/11/2022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8/11/2022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8/11/2022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8/11/2022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accent3"/>
          </a:solid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8/11/2022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8/11/2022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8/11/2022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8/11/2022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0966" y="582704"/>
            <a:ext cx="10443882" cy="1425390"/>
          </a:xfrm>
        </p:spPr>
        <p:txBody>
          <a:bodyPr>
            <a:normAutofit/>
          </a:bodyPr>
          <a:lstStyle/>
          <a:p>
            <a:r>
              <a:rPr lang="en-IN" sz="4400" b="1" dirty="0">
                <a:effectLst/>
                <a:latin typeface="Franklin Gothic Heavy" panose="020B0903020102020204" pitchFamily="34" charset="0"/>
                <a:ea typeface="Calibri" panose="020F0502020204030204" pitchFamily="34" charset="0"/>
              </a:rPr>
              <a:t>Small Network at Tech Institute- Critical Issues and Planning a Migration</a:t>
            </a:r>
            <a:endParaRPr lang="en-US" sz="4400" dirty="0">
              <a:latin typeface="Franklin Gothic Heavy" panose="020B0903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0094" y="1855433"/>
            <a:ext cx="4730674" cy="3093085"/>
          </a:xfrm>
        </p:spPr>
        <p:txBody>
          <a:bodyPr>
            <a:normAutofit/>
          </a:bodyPr>
          <a:lstStyle/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IN" sz="1800" b="0" i="0" u="none" strike="noStrike" dirty="0">
              <a:solidFill>
                <a:schemeClr val="tx1"/>
              </a:solidFill>
              <a:effectLst/>
              <a:latin typeface="Franklin Gothic Heavy" panose="020B09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Franklin Gothic Heavy" panose="020B0903020102020204" pitchFamily="34" charset="0"/>
              </a:rPr>
              <a:t>TEAM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IN" sz="1800" b="0" i="0" u="none" strike="noStrike" dirty="0">
              <a:solidFill>
                <a:schemeClr val="tx1"/>
              </a:solidFill>
              <a:effectLst/>
              <a:latin typeface="Franklin Gothic Heavy" panose="020B0903020102020204" pitchFamily="34" charset="0"/>
            </a:endParaRP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Saikiranreddy Kota</a:t>
            </a: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I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chemeClr val="tx1"/>
                </a:solidFill>
                <a:latin typeface="Arial" panose="020B0604020202020204" pitchFamily="34" charset="0"/>
              </a:rPr>
              <a:t>Nikita Patole</a:t>
            </a: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I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chemeClr val="tx1"/>
                </a:solidFill>
                <a:latin typeface="Arial" panose="020B0604020202020204" pitchFamily="34" charset="0"/>
              </a:rPr>
              <a:t>Siva BIKKINA</a:t>
            </a: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I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chemeClr val="tx1"/>
                </a:solidFill>
                <a:latin typeface="Arial" panose="020B0604020202020204" pitchFamily="34" charset="0"/>
              </a:rPr>
              <a:t>PRUDHVI KRISHNA MODEGUNTA</a:t>
            </a: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IN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381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4909B-6B93-CE2C-391B-BA9BE09D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02DB3-5A99-9475-D286-ACF4A9B25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effectLst/>
                <a:latin typeface="+mj-lt"/>
                <a:ea typeface="Calibri" panose="020F0502020204030204" pitchFamily="34" charset="0"/>
              </a:rPr>
              <a:t>In this project, we plan a migration over a period of two years of the current network which is outdated to an advanced network which is scalable, secure, flexible, and reliable. Thus, the four-campus Tech Institute intends to replace its current network infrastructure with a much better one that has high speed and appropriate placements of modern gear.</a:t>
            </a:r>
            <a:endParaRPr lang="en-US" dirty="0">
              <a:latin typeface="+mj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007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B6922-C040-1FCD-88DD-FB4374CD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162E5-80AD-6F4D-33E9-85DC7264C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algn="just">
              <a:lnSpc>
                <a:spcPct val="200000"/>
              </a:lnSpc>
            </a:pPr>
            <a:r>
              <a:rPr lang="en-IN" sz="20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7450 pupils in all, 50 members of support staff, 50 teachers, and 20 managers.</a:t>
            </a:r>
          </a:p>
          <a:p>
            <a:pPr marL="457200" algn="just">
              <a:lnSpc>
                <a:spcPct val="200000"/>
              </a:lnSpc>
            </a:pPr>
            <a:r>
              <a:rPr lang="en-IN" sz="20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Campus-A</a:t>
            </a:r>
            <a:r>
              <a:rPr lang="en-IN" sz="20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exclusively houses the School of Media and includes 4 classes (500 students)</a:t>
            </a:r>
          </a:p>
          <a:p>
            <a:pPr marL="457200" algn="just">
              <a:lnSpc>
                <a:spcPct val="200000"/>
              </a:lnSpc>
            </a:pPr>
            <a:r>
              <a:rPr lang="en-IN" sz="20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Campus-B</a:t>
            </a:r>
            <a:r>
              <a:rPr lang="en-IN" sz="20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is home to three schools: Business (2000 students), Engineering (3000 students), and Health Sciences (150 students), and it includes 12 classrooms.</a:t>
            </a:r>
          </a:p>
          <a:p>
            <a:pPr marL="457200" algn="just">
              <a:lnSpc>
                <a:spcPct val="200000"/>
              </a:lnSpc>
              <a:spcAft>
                <a:spcPts val="800"/>
              </a:spcAft>
            </a:pPr>
            <a:r>
              <a:rPr lang="en-IN" sz="20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Campus-C</a:t>
            </a:r>
            <a:r>
              <a:rPr lang="en-IN" sz="20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has 8 classrooms, 350 students enrolled in the School of General Arts, and IT services (support staff of 20).</a:t>
            </a:r>
          </a:p>
          <a:p>
            <a:r>
              <a:rPr lang="en-IN" sz="20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</a:rPr>
              <a:t>         • </a:t>
            </a:r>
            <a:r>
              <a:rPr lang="en-IN" sz="2000" b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</a:rPr>
              <a:t>Campus-D</a:t>
            </a:r>
            <a:r>
              <a:rPr lang="en-IN" sz="20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</a:rPr>
              <a:t> houses the School of Aviation and has four classes (100 students).</a:t>
            </a:r>
            <a:endParaRPr lang="en-CA" dirty="0">
              <a:solidFill>
                <a:schemeClr val="tx1"/>
              </a:solidFill>
              <a:latin typeface="+mj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807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83C59-D120-8A66-3EFC-625386256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8673"/>
            <a:ext cx="10058400" cy="1450757"/>
          </a:xfrm>
        </p:spPr>
        <p:txBody>
          <a:bodyPr/>
          <a:lstStyle/>
          <a:p>
            <a:r>
              <a:rPr lang="en-US" dirty="0"/>
              <a:t>Network Designs </a:t>
            </a:r>
            <a:r>
              <a:rPr lang="en-US" sz="2800" dirty="0"/>
              <a:t>(Stage I)</a:t>
            </a:r>
            <a:endParaRPr lang="en-IN" dirty="0"/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AC555B89-B562-2886-10CD-E46508367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810405"/>
            <a:ext cx="6221506" cy="451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FA7E1062-6862-5F12-1072-A01ACD5F8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507" y="1810404"/>
            <a:ext cx="5504328" cy="4518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5030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E9AFF-CC8B-7DDB-A88E-946297100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Designs </a:t>
            </a:r>
            <a:r>
              <a:rPr lang="en-US" sz="2800" dirty="0"/>
              <a:t>(Stage II)</a:t>
            </a:r>
            <a:endParaRPr lang="en-IN" dirty="0"/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1B68CD46-77CD-9EA6-F583-2C082050D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855694"/>
            <a:ext cx="6095999" cy="4491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F13659B1-D5B2-C9CF-F13D-DDD143312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79" y="1855694"/>
            <a:ext cx="6065521" cy="4491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3352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2BE52-82C4-FF1F-E866-7F8A7B171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 Distribution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3F20540-8F67-4CFE-A01C-DCD2B24571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1299884"/>
              </p:ext>
            </p:extLst>
          </p:nvPr>
        </p:nvGraphicFramePr>
        <p:xfrm>
          <a:off x="263246" y="2823415"/>
          <a:ext cx="4819743" cy="27257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06581">
                  <a:extLst>
                    <a:ext uri="{9D8B030D-6E8A-4147-A177-3AD203B41FA5}">
                      <a16:colId xmlns:a16="http://schemas.microsoft.com/office/drawing/2014/main" val="3160384913"/>
                    </a:ext>
                  </a:extLst>
                </a:gridCol>
                <a:gridCol w="1606581">
                  <a:extLst>
                    <a:ext uri="{9D8B030D-6E8A-4147-A177-3AD203B41FA5}">
                      <a16:colId xmlns:a16="http://schemas.microsoft.com/office/drawing/2014/main" val="489738336"/>
                    </a:ext>
                  </a:extLst>
                </a:gridCol>
                <a:gridCol w="1606581">
                  <a:extLst>
                    <a:ext uri="{9D8B030D-6E8A-4147-A177-3AD203B41FA5}">
                      <a16:colId xmlns:a16="http://schemas.microsoft.com/office/drawing/2014/main" val="4226081243"/>
                    </a:ext>
                  </a:extLst>
                </a:gridCol>
              </a:tblGrid>
              <a:tr h="545147">
                <a:tc>
                  <a:txBody>
                    <a:bodyPr/>
                    <a:lstStyle/>
                    <a:p>
                      <a:pPr marL="71120">
                        <a:lnSpc>
                          <a:spcPts val="1360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6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Campus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60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6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IP</a:t>
                      </a:r>
                      <a:r>
                        <a:rPr lang="en-US" sz="1400" b="1" spc="-75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range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60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6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Subnet</a:t>
                      </a:r>
                      <a:r>
                        <a:rPr lang="en-US" sz="1400" b="1" spc="-1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Mask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6454481"/>
                  </a:ext>
                </a:extLst>
              </a:tr>
              <a:tr h="545147"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55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Campus</a:t>
                      </a:r>
                      <a:r>
                        <a:rPr lang="en-US" sz="1400" b="1" spc="-7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55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172.16.2.1 – 172.16.2.254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55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/23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55597106"/>
                  </a:ext>
                </a:extLst>
              </a:tr>
              <a:tr h="545147">
                <a:tc>
                  <a:txBody>
                    <a:bodyPr/>
                    <a:lstStyle/>
                    <a:p>
                      <a:pPr marL="71120">
                        <a:lnSpc>
                          <a:spcPts val="1360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6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Campus B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60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6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172.16.3.1 – 172.16.5.254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60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6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/23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18275665"/>
                  </a:ext>
                </a:extLst>
              </a:tr>
              <a:tr h="545147">
                <a:tc>
                  <a:txBody>
                    <a:bodyPr/>
                    <a:lstStyle/>
                    <a:p>
                      <a:pPr marL="71120">
                        <a:lnSpc>
                          <a:spcPts val="1360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6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Campus C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60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6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172.16.6.1 – 172.16.7.254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60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6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/24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4550902"/>
                  </a:ext>
                </a:extLst>
              </a:tr>
              <a:tr h="545147">
                <a:tc>
                  <a:txBody>
                    <a:bodyPr/>
                    <a:lstStyle/>
                    <a:p>
                      <a:pPr marL="71120">
                        <a:lnSpc>
                          <a:spcPts val="1360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6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Campus D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60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6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172.16.8.1 – 172.16.8.254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60"/>
                        </a:lnSpc>
                      </a:pP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71120">
                        <a:lnSpc>
                          <a:spcPts val="136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/24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58456712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939D981-B971-6D55-49A6-FA9A6CC52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197988"/>
              </p:ext>
            </p:extLst>
          </p:nvPr>
        </p:nvGraphicFramePr>
        <p:xfrm>
          <a:off x="5432612" y="2823415"/>
          <a:ext cx="6562164" cy="351933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40541">
                  <a:extLst>
                    <a:ext uri="{9D8B030D-6E8A-4147-A177-3AD203B41FA5}">
                      <a16:colId xmlns:a16="http://schemas.microsoft.com/office/drawing/2014/main" val="2110770942"/>
                    </a:ext>
                  </a:extLst>
                </a:gridCol>
                <a:gridCol w="1640541">
                  <a:extLst>
                    <a:ext uri="{9D8B030D-6E8A-4147-A177-3AD203B41FA5}">
                      <a16:colId xmlns:a16="http://schemas.microsoft.com/office/drawing/2014/main" val="965346924"/>
                    </a:ext>
                  </a:extLst>
                </a:gridCol>
                <a:gridCol w="1640541">
                  <a:extLst>
                    <a:ext uri="{9D8B030D-6E8A-4147-A177-3AD203B41FA5}">
                      <a16:colId xmlns:a16="http://schemas.microsoft.com/office/drawing/2014/main" val="3461203121"/>
                    </a:ext>
                  </a:extLst>
                </a:gridCol>
                <a:gridCol w="1640541">
                  <a:extLst>
                    <a:ext uri="{9D8B030D-6E8A-4147-A177-3AD203B41FA5}">
                      <a16:colId xmlns:a16="http://schemas.microsoft.com/office/drawing/2014/main" val="910709196"/>
                    </a:ext>
                  </a:extLst>
                </a:gridCol>
              </a:tblGrid>
              <a:tr h="681411">
                <a:tc>
                  <a:txBody>
                    <a:bodyPr/>
                    <a:lstStyle/>
                    <a:p>
                      <a:pPr marL="71120">
                        <a:lnSpc>
                          <a:spcPct val="20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VLAN</a:t>
                      </a:r>
                      <a:r>
                        <a:rPr lang="en-US" sz="1400" spc="-1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NAMES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 marR="379095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400" spc="-5" dirty="0">
                          <a:solidFill>
                            <a:schemeClr val="tx1"/>
                          </a:solidFill>
                          <a:effectLst/>
                        </a:rPr>
                        <a:t>NETWORK</a:t>
                      </a:r>
                      <a:r>
                        <a:rPr lang="en-US" sz="1400" spc="-28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ADDRESS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20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SUBNET</a:t>
                      </a:r>
                      <a:r>
                        <a:rPr lang="en-US" sz="1400" spc="-4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MASK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marR="520065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Default</a:t>
                      </a:r>
                      <a:r>
                        <a:rPr lang="en-US" sz="1400" spc="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Gateway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05997838"/>
                  </a:ext>
                </a:extLst>
              </a:tr>
              <a:tr h="681411">
                <a:tc>
                  <a:txBody>
                    <a:bodyPr/>
                    <a:lstStyle/>
                    <a:p>
                      <a:pPr marL="71120"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WAP - A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192.168.7.0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255.255.255.192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200000"/>
                        </a:lnSpc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</a:rPr>
                        <a:t>192.168.7.1</a:t>
                      </a:r>
                      <a:endParaRPr lang="en-IN" sz="1400" b="1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55179138"/>
                  </a:ext>
                </a:extLst>
              </a:tr>
              <a:tr h="681411">
                <a:tc>
                  <a:txBody>
                    <a:bodyPr/>
                    <a:lstStyle/>
                    <a:p>
                      <a:pPr marL="71120"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WAP - B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192.168.7.64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255.255.255.192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200000"/>
                        </a:lnSpc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</a:rPr>
                        <a:t>192.168.7.65</a:t>
                      </a:r>
                      <a:endParaRPr lang="en-IN" sz="1400" b="1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1507968"/>
                  </a:ext>
                </a:extLst>
              </a:tr>
              <a:tr h="681411">
                <a:tc>
                  <a:txBody>
                    <a:bodyPr/>
                    <a:lstStyle/>
                    <a:p>
                      <a:pPr marL="71120">
                        <a:lnSpc>
                          <a:spcPct val="200000"/>
                        </a:lnSpc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</a:rPr>
                        <a:t>WAP - C</a:t>
                      </a:r>
                      <a:endParaRPr lang="en-IN" sz="1400" b="1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192.168.7.128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255.255.255.192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192.168.7.129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65570789"/>
                  </a:ext>
                </a:extLst>
              </a:tr>
              <a:tr h="681411">
                <a:tc>
                  <a:txBody>
                    <a:bodyPr/>
                    <a:lstStyle/>
                    <a:p>
                      <a:pPr marL="71120">
                        <a:lnSpc>
                          <a:spcPct val="200000"/>
                        </a:lnSpc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</a:rPr>
                        <a:t>WAP - D</a:t>
                      </a:r>
                      <a:endParaRPr lang="en-IN" sz="1400" b="1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192.168.7.192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255.255.255.192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192.168.7.193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Liberation Serif"/>
                        <a:cs typeface="Liberation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317988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675785-DAF2-F44A-A8DE-1138E4EE961C}"/>
              </a:ext>
            </a:extLst>
          </p:cNvPr>
          <p:cNvSpPr txBox="1"/>
          <p:nvPr/>
        </p:nvSpPr>
        <p:spPr>
          <a:xfrm>
            <a:off x="5531224" y="2160494"/>
            <a:ext cx="4500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+mj-lt"/>
              <a:ea typeface="Liberation Serif" charset="0"/>
              <a:cs typeface="Times New Roman" panose="02020603050405020304" pitchFamily="18" charset="0"/>
            </a:endParaRPr>
          </a:p>
          <a:p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+mj-lt"/>
                <a:ea typeface="Liberation Serif" charset="0"/>
                <a:cs typeface="Times New Roman" panose="02020603050405020304" pitchFamily="18" charset="0"/>
              </a:rPr>
              <a:t>ACCESS POINT DISTRIBUTION TABLE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+mj-lt"/>
              <a:ea typeface="Liberation Serif" charset="0"/>
              <a:cs typeface="Liberation Serif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622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4CACA-87CF-D2A2-DF8E-9DD05D29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effectLst/>
                <a:ea typeface="Calibri" panose="020F0502020204030204" pitchFamily="34" charset="0"/>
              </a:rPr>
              <a:t>Hardware Details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BEE28-21B8-A396-685A-2DF273361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UPS: APC- SYH4K6RMT</a:t>
            </a:r>
          </a:p>
          <a:p>
            <a:r>
              <a:rPr lang="en-IN" sz="1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Layer 3 Switch</a:t>
            </a:r>
            <a:r>
              <a:rPr lang="en-IN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Cisco WS-c2960+48PST-S</a:t>
            </a:r>
          </a:p>
          <a:p>
            <a:r>
              <a:rPr lang="en-US" sz="1800" dirty="0">
                <a:effectLst/>
                <a:latin typeface="+mj-lt"/>
                <a:ea typeface="Liberation Serif"/>
                <a:cs typeface="Liberation Serif"/>
              </a:rPr>
              <a:t>Wireless Access Point: Cisco Catalyst C9200L-24P-4G-E</a:t>
            </a:r>
            <a:endParaRPr lang="en-IN" sz="1800" dirty="0">
              <a:effectLst/>
              <a:latin typeface="+mj-lt"/>
              <a:ea typeface="Liberation Serif"/>
              <a:cs typeface="Liberation Serif"/>
            </a:endParaRPr>
          </a:p>
          <a:p>
            <a:r>
              <a:rPr lang="en-US" sz="1800" dirty="0">
                <a:effectLst/>
                <a:latin typeface="+mj-lt"/>
                <a:ea typeface="Liberation Serif"/>
                <a:cs typeface="Liberation Serif"/>
              </a:rPr>
              <a:t>Firewall: ASA5516-FPWR-K9</a:t>
            </a:r>
            <a:endParaRPr lang="en-IN" sz="1800" dirty="0">
              <a:effectLst/>
              <a:latin typeface="+mj-lt"/>
              <a:ea typeface="Liberation Serif"/>
              <a:cs typeface="Liberation Serif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solidFill>
                  <a:srgbClr val="000000"/>
                </a:solidFill>
                <a:effectLst/>
                <a:latin typeface="LiberationSerif-Bold"/>
                <a:ea typeface="Calibri" panose="020F0502020204030204" pitchFamily="34" charset="0"/>
                <a:cs typeface="LiberationSerif-Bold"/>
              </a:rPr>
              <a:t> </a:t>
            </a:r>
            <a:r>
              <a:rPr lang="en-IN" sz="1800" b="1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Router</a:t>
            </a:r>
            <a:r>
              <a:rPr lang="en-IN" sz="18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: Cisco 4000 Router ISR4331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solidFill>
                  <a:srgbClr val="0563C2"/>
                </a:solidFill>
                <a:effectLst/>
                <a:latin typeface="LiberationSerif"/>
                <a:ea typeface="Calibri" panose="020F0502020204030204" pitchFamily="34" charset="0"/>
                <a:cs typeface="LiberationSerif"/>
              </a:rPr>
              <a:t> </a:t>
            </a:r>
            <a:r>
              <a:rPr lang="en-IN" sz="1800" b="1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Wireless LAN Controller:</a:t>
            </a:r>
            <a:r>
              <a:rPr lang="en-IN" sz="18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C1-AIR-CT3504-K9 - Cisco WLAN Controller</a:t>
            </a:r>
            <a:endParaRPr lang="en-IN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UPS:</a:t>
            </a:r>
            <a:r>
              <a:rPr lang="en-IN" sz="18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 APC </a:t>
            </a:r>
            <a:r>
              <a:rPr lang="en-IN" sz="1800" dirty="0" err="1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Symmetra</a:t>
            </a:r>
            <a:r>
              <a:rPr lang="en-IN" sz="18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 RM 2kVA 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37279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473A9-FDFC-6019-0A1B-A249CECA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F4FBE-A097-FBEF-C915-689BA7275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sz="1800" dirty="0">
                <a:latin typeface="+mj-lt"/>
              </a:rPr>
              <a:t>Campus A  -  12640$</a:t>
            </a:r>
          </a:p>
          <a:p>
            <a:r>
              <a:rPr lang="en-IN" sz="1800" dirty="0">
                <a:latin typeface="+mj-lt"/>
              </a:rPr>
              <a:t>Campus B  -  14640$</a:t>
            </a:r>
          </a:p>
          <a:p>
            <a:r>
              <a:rPr lang="en-IN" sz="1800" dirty="0">
                <a:latin typeface="+mj-lt"/>
              </a:rPr>
              <a:t>Total cost of Campus A and B Upgradation for the first year – 27280$</a:t>
            </a:r>
          </a:p>
          <a:p>
            <a:endParaRPr lang="en-IN" sz="1800" dirty="0">
              <a:latin typeface="+mj-lt"/>
            </a:endParaRPr>
          </a:p>
          <a:p>
            <a:r>
              <a:rPr lang="en-IN" sz="1800" dirty="0">
                <a:latin typeface="+mj-lt"/>
              </a:rPr>
              <a:t>Campus C  -  12460$</a:t>
            </a:r>
          </a:p>
          <a:p>
            <a:r>
              <a:rPr lang="en-IN" sz="1800" dirty="0">
                <a:latin typeface="+mj-lt"/>
              </a:rPr>
              <a:t>Campus D  -  10540$  </a:t>
            </a:r>
          </a:p>
          <a:p>
            <a:r>
              <a:rPr lang="en-IN" sz="1800" dirty="0">
                <a:latin typeface="+mj-lt"/>
              </a:rPr>
              <a:t>Total cost of Campus C and D Upgradation – 23000$</a:t>
            </a:r>
          </a:p>
          <a:p>
            <a:endParaRPr lang="en-IN" sz="1800" dirty="0">
              <a:latin typeface="+mj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043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73CA7-0F49-C01E-7B3F-50068C48E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D7540-B3FA-1E8F-85D3-FF4EFC8B8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IN" sz="1800" dirty="0">
                <a:effectLst/>
                <a:latin typeface="+mj-lt"/>
                <a:ea typeface="Calibri" panose="020F0502020204030204" pitchFamily="34" charset="0"/>
              </a:rPr>
              <a:t>For more flexibility and performance, networks must be upgraded. For Campus A and B, we intend to begin the first stage of network upgrading on September 10, 2022</a:t>
            </a:r>
          </a:p>
          <a:p>
            <a:endParaRPr lang="en-IN" sz="1800" dirty="0">
              <a:latin typeface="+mj-lt"/>
              <a:ea typeface="Calibri" panose="020F0502020204030204" pitchFamily="34" charset="0"/>
            </a:endParaRPr>
          </a:p>
          <a:p>
            <a:r>
              <a:rPr lang="en-IN" sz="1800" dirty="0">
                <a:effectLst/>
                <a:latin typeface="+mj-lt"/>
                <a:ea typeface="Calibri" panose="020F0502020204030204" pitchFamily="34" charset="0"/>
              </a:rPr>
              <a:t>For Campus C and D, we intend to begin the second stage of network upgrading on September 10, 2023</a:t>
            </a:r>
          </a:p>
          <a:p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IN" sz="1800" dirty="0"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099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8EC47-2E88-8B1B-F095-73EF55018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FEE83-1955-B1B8-4A28-91E9C0A90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8163261" cy="4023360"/>
          </a:xfrm>
        </p:spPr>
        <p:txBody>
          <a:bodyPr/>
          <a:lstStyle/>
          <a:p>
            <a:r>
              <a:rPr lang="en-US" sz="1800" dirty="0">
                <a:effectLst/>
                <a:latin typeface="+mj-lt"/>
                <a:ea typeface="Liberation Serif"/>
                <a:cs typeface="Liberation Serif"/>
              </a:rPr>
              <a:t>We can improve the network in two stages while staying within the budget. For two years, the expected total cost is CDN $50280. The redesign and application of the suggested network topology will successfully address all network-related problems.</a:t>
            </a:r>
          </a:p>
          <a:p>
            <a:endParaRPr lang="en-US" sz="1800" dirty="0">
              <a:latin typeface="+mj-lt"/>
              <a:ea typeface="Liberation Serif"/>
              <a:cs typeface="Liberation Serif"/>
            </a:endParaRPr>
          </a:p>
          <a:p>
            <a:endParaRPr lang="en-US" sz="1800" dirty="0">
              <a:effectLst/>
              <a:latin typeface="+mj-lt"/>
              <a:ea typeface="Liberation Serif"/>
              <a:cs typeface="Liberation Serif"/>
            </a:endParaRPr>
          </a:p>
          <a:p>
            <a:r>
              <a:rPr lang="en-US" sz="3600" dirty="0">
                <a:latin typeface="Franklin Gothic Heavy" panose="020B0903020102020204" pitchFamily="34" charset="0"/>
                <a:ea typeface="Liberation Serif"/>
                <a:cs typeface="Liberation Serif"/>
              </a:rPr>
              <a:t>THANK YOU</a:t>
            </a:r>
            <a:endParaRPr lang="en-IN" sz="3600" dirty="0">
              <a:effectLst/>
              <a:latin typeface="Franklin Gothic Heavy" panose="020B0903020102020204" pitchFamily="34" charset="0"/>
              <a:ea typeface="Liberation Serif"/>
              <a:cs typeface="Liberation Serif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094946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</TotalTime>
  <Words>473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Franklin Gothic Heavy</vt:lpstr>
      <vt:lpstr>LiberationSerif</vt:lpstr>
      <vt:lpstr>LiberationSerif-Bold</vt:lpstr>
      <vt:lpstr>Times New Roman</vt:lpstr>
      <vt:lpstr>Retrospect</vt:lpstr>
      <vt:lpstr>Small Network at Tech Institute- Critical Issues and Planning a Migration</vt:lpstr>
      <vt:lpstr>Introduction</vt:lpstr>
      <vt:lpstr>Project Summary</vt:lpstr>
      <vt:lpstr>Network Designs (Stage I)</vt:lpstr>
      <vt:lpstr>Network Designs (Stage II)</vt:lpstr>
      <vt:lpstr>Ip Address Distribution</vt:lpstr>
      <vt:lpstr>Hardware Details</vt:lpstr>
      <vt:lpstr>Cost Estimation</vt:lpstr>
      <vt:lpstr>Implementation Plan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vicky</dc:creator>
  <cp:lastModifiedBy>Prudhvikrishna Modegunta</cp:lastModifiedBy>
  <cp:revision>4</cp:revision>
  <dcterms:created xsi:type="dcterms:W3CDTF">2014-09-12T02:11:56Z</dcterms:created>
  <dcterms:modified xsi:type="dcterms:W3CDTF">2022-08-11T17:54:25Z</dcterms:modified>
</cp:coreProperties>
</file>